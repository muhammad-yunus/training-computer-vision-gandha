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6" r:id="rId3"/>
    <p:sldId id="291" r:id="rId4"/>
    <p:sldId id="267" r:id="rId5"/>
    <p:sldId id="270" r:id="rId7"/>
    <p:sldId id="275" r:id="rId8"/>
    <p:sldId id="276" r:id="rId9"/>
    <p:sldId id="278" r:id="rId10"/>
    <p:sldId id="283" r:id="rId11"/>
    <p:sldId id="285" r:id="rId12"/>
    <p:sldId id="284" r:id="rId13"/>
    <p:sldId id="289" r:id="rId14"/>
    <p:sldId id="287" r:id="rId15"/>
    <p:sldId id="29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B8D08"/>
    <a:srgbClr val="E5E793"/>
    <a:srgbClr val="3CAF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r>
              <a:rPr lang="en-US"/>
              <a:t>https://www.anaconda.com/</a:t>
            </a:r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r>
              <a:rPr lang="en-US"/>
              <a:t>https://www.anaconda.com/products/individual</a:t>
            </a:r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r>
              <a:rPr lang="en-US"/>
              <a:t>https://anaconda.org/conda-forge</a:t>
            </a:r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r>
              <a:rPr lang="en-US"/>
              <a:t>https://anaconda.org/conda-forge</a:t>
            </a:r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r>
              <a:rPr lang="en-US"/>
              <a:t>https://anaconda.org/conda-forge</a:t>
            </a:r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r>
              <a:rPr lang="en-US"/>
              <a:t>https://anaconda.org/conda-forge</a:t>
            </a:r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r>
              <a:rPr lang="en-US"/>
              <a:t>https://anaconda.org/conda-forge</a:t>
            </a:r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r>
              <a:rPr lang="en-US"/>
              <a:t>https://anaconda.org/conda-forge</a:t>
            </a:r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r>
              <a:rPr lang="en-US"/>
              <a:t>https://anaconda.org/conda-forge</a:t>
            </a:r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r>
              <a:rPr lang="en-US"/>
              <a:t>https://anaconda.org/conda-forge</a:t>
            </a:r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r>
              <a:rPr lang="en-US"/>
              <a:t>https://anaconda.org/conda-forge</a:t>
            </a:r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4.xml"/><Relationship Id="rId2" Type="http://schemas.openxmlformats.org/officeDocument/2006/relationships/hyperlink" Target="https://www.anaconda.com/&#13;" TargetMode="Externa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4.png"/><Relationship Id="rId1" Type="http://schemas.openxmlformats.org/officeDocument/2006/relationships/hyperlink" Target="https://www.anaconda.com/download/success" TargetMode="Externa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hyperlink" Target="https://code.visualstudio.com/download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5.xml"/><Relationship Id="rId8" Type="http://schemas.openxmlformats.org/officeDocument/2006/relationships/tags" Target="../tags/tag4.xml"/><Relationship Id="rId7" Type="http://schemas.openxmlformats.org/officeDocument/2006/relationships/image" Target="../media/image17.png"/><Relationship Id="rId6" Type="http://schemas.openxmlformats.org/officeDocument/2006/relationships/tags" Target="../tags/tag3.xml"/><Relationship Id="rId5" Type="http://schemas.openxmlformats.org/officeDocument/2006/relationships/image" Target="../media/image16.png"/><Relationship Id="rId4" Type="http://schemas.openxmlformats.org/officeDocument/2006/relationships/tags" Target="../tags/tag2.xml"/><Relationship Id="rId3" Type="http://schemas.openxmlformats.org/officeDocument/2006/relationships/image" Target="../media/image15.png"/><Relationship Id="rId2" Type="http://schemas.openxmlformats.org/officeDocument/2006/relationships/tags" Target="../tags/tag1.xml"/><Relationship Id="rId12" Type="http://schemas.openxmlformats.org/officeDocument/2006/relationships/notesSlide" Target="../notesSlides/notesSlide9.xml"/><Relationship Id="rId11" Type="http://schemas.openxmlformats.org/officeDocument/2006/relationships/slideLayout" Target="../slideLayouts/slideLayout2.xml"/><Relationship Id="rId10" Type="http://schemas.openxmlformats.org/officeDocument/2006/relationships/tags" Target="../tags/tag6.xml"/><Relationship Id="rId1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s 2"/>
          <p:cNvSpPr/>
          <p:nvPr/>
        </p:nvSpPr>
        <p:spPr>
          <a:xfrm>
            <a:off x="3992880" y="0"/>
            <a:ext cx="8188960" cy="6876415"/>
          </a:xfrm>
          <a:prstGeom prst="rect">
            <a:avLst/>
          </a:prstGeom>
          <a:solidFill>
            <a:srgbClr val="E5E79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4271010" y="1162050"/>
            <a:ext cx="7911465" cy="16916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en-US" sz="4400">
                <a:solidFill>
                  <a:srgbClr val="8B8D08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PERSIAPAN KURSUS</a:t>
            </a:r>
            <a:endParaRPr lang="en-US" altLang="en-US" sz="4400">
              <a:solidFill>
                <a:srgbClr val="8B8D08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algn="l"/>
            <a:r>
              <a:rPr lang="en-US" altLang="en-US" sz="6000">
                <a:solidFill>
                  <a:srgbClr val="8B8D08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COMPUTER VISION</a:t>
            </a:r>
            <a:endParaRPr lang="en-US" altLang="en-US" sz="6000">
              <a:solidFill>
                <a:srgbClr val="8B8D08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6120765"/>
            <a:ext cx="2447925" cy="662940"/>
          </a:xfrm>
          <a:prstGeom prst="rect">
            <a:avLst/>
          </a:prstGeom>
        </p:spPr>
      </p:pic>
      <p:pic>
        <p:nvPicPr>
          <p:cNvPr id="41" name="Picture 40" descr="OpenCV_Logo_with_tex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9625" y="3261995"/>
            <a:ext cx="1572260" cy="1938020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Rectangles 6"/>
          <p:cNvSpPr/>
          <p:nvPr/>
        </p:nvSpPr>
        <p:spPr>
          <a:xfrm>
            <a:off x="0" y="0"/>
            <a:ext cx="12207875" cy="975995"/>
          </a:xfrm>
          <a:prstGeom prst="rect">
            <a:avLst/>
          </a:prstGeom>
          <a:solidFill>
            <a:srgbClr val="E5E79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03860" y="0"/>
            <a:ext cx="10515600" cy="975995"/>
          </a:xfrm>
        </p:spPr>
        <p:txBody>
          <a:bodyPr>
            <a:normAutofit/>
          </a:bodyPr>
          <a:p>
            <a:r>
              <a:rPr lang="en-US">
                <a:solidFill>
                  <a:srgbClr val="8B8D08"/>
                </a:solidFill>
                <a:sym typeface="+mn-ea"/>
              </a:rPr>
              <a:t>Catatan</a:t>
            </a:r>
            <a:endParaRPr lang="en-US">
              <a:solidFill>
                <a:srgbClr val="8B8D08"/>
              </a:solidFill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1129665" y="1478280"/>
            <a:ext cx="10638155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lang="en-US" sz="2400"/>
              <a:t>Pada Kursus ini kita akan Menggunakan beberapa Teknologi Berikut,</a:t>
            </a:r>
            <a:endParaRPr lang="en-US" sz="2400"/>
          </a:p>
          <a:p>
            <a:pPr indent="0">
              <a:buFont typeface="Arial" panose="020B0604020202020204" pitchFamily="34" charset="0"/>
              <a:buNone/>
            </a:pPr>
            <a:endParaRPr lang="en-US" sz="2400"/>
          </a:p>
          <a:p>
            <a:pPr indent="0">
              <a:buFont typeface="Arial" panose="020B0604020202020204" pitchFamily="34" charset="0"/>
              <a:buNone/>
            </a:pPr>
            <a:r>
              <a:rPr lang="en-US" sz="2400"/>
              <a:t>- Bahasa Pemograman : </a:t>
            </a:r>
            <a:r>
              <a:rPr lang="en-US" sz="2400" b="1"/>
              <a:t>Python </a:t>
            </a:r>
            <a:endParaRPr lang="en-US" sz="2400"/>
          </a:p>
          <a:p>
            <a:pPr indent="0">
              <a:buFont typeface="Arial" panose="020B0604020202020204" pitchFamily="34" charset="0"/>
              <a:buNone/>
            </a:pPr>
            <a:r>
              <a:rPr lang="en-US" sz="2400"/>
              <a:t>- </a:t>
            </a:r>
            <a:r>
              <a:rPr lang="en-US" sz="2400">
                <a:sym typeface="+mn-ea"/>
              </a:rPr>
              <a:t>Package Management : </a:t>
            </a:r>
            <a:r>
              <a:rPr lang="en-US" sz="2400" b="1"/>
              <a:t>Anaconda </a:t>
            </a:r>
            <a:r>
              <a:rPr lang="en-US" sz="2000" i="1"/>
              <a:t>(Managing Environment &amp; Python Package)</a:t>
            </a:r>
            <a:endParaRPr lang="en-US" sz="2000" i="1"/>
          </a:p>
          <a:p>
            <a:pPr indent="0">
              <a:buFont typeface="Arial" panose="020B0604020202020204" pitchFamily="34" charset="0"/>
              <a:buNone/>
            </a:pPr>
            <a:r>
              <a:rPr lang="en-US" sz="2400"/>
              <a:t>- Code Editor : </a:t>
            </a:r>
            <a:r>
              <a:rPr lang="en-US" sz="2400" b="1"/>
              <a:t>Visual Studio Code</a:t>
            </a:r>
            <a:endParaRPr lang="en-US" sz="2400" b="1"/>
          </a:p>
          <a:p>
            <a:pPr indent="0">
              <a:buFont typeface="Arial" panose="020B0604020202020204" pitchFamily="34" charset="0"/>
              <a:buNone/>
            </a:pPr>
            <a:endParaRPr lang="en-US" sz="2400" b="1"/>
          </a:p>
          <a:p>
            <a:pPr indent="0">
              <a:buFont typeface="Arial" panose="020B0604020202020204" pitchFamily="34" charset="0"/>
              <a:buNone/>
            </a:pPr>
            <a:endParaRPr lang="en-US" sz="2400" b="1"/>
          </a:p>
          <a:p>
            <a:pPr indent="0">
              <a:buFont typeface="Arial" panose="020B0604020202020204" pitchFamily="34" charset="0"/>
              <a:buNone/>
            </a:pPr>
            <a:r>
              <a:rPr lang="en-US" sz="2400"/>
              <a:t>Sehingga untuk mengikuti Kursus ini, peserta harus familiar dengan Pemrograman Python.</a:t>
            </a:r>
            <a:endParaRPr lang="en-US"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Rectangles 6"/>
          <p:cNvSpPr/>
          <p:nvPr/>
        </p:nvSpPr>
        <p:spPr>
          <a:xfrm>
            <a:off x="0" y="0"/>
            <a:ext cx="12207875" cy="975995"/>
          </a:xfrm>
          <a:prstGeom prst="rect">
            <a:avLst/>
          </a:prstGeom>
          <a:solidFill>
            <a:srgbClr val="E5E79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3860" y="0"/>
            <a:ext cx="10515600" cy="975995"/>
          </a:xfrm>
        </p:spPr>
        <p:txBody>
          <a:bodyPr>
            <a:normAutofit/>
          </a:bodyPr>
          <a:p>
            <a:r>
              <a:rPr lang="en-US">
                <a:solidFill>
                  <a:srgbClr val="8B8D08"/>
                </a:solidFill>
                <a:sym typeface="+mn-ea"/>
              </a:rPr>
              <a:t>Python Package Management </a:t>
            </a:r>
            <a:r>
              <a:rPr lang="en-US" b="1">
                <a:solidFill>
                  <a:srgbClr val="8B8D08"/>
                </a:solidFill>
                <a:sym typeface="+mn-ea"/>
              </a:rPr>
              <a:t>Anaconda</a:t>
            </a:r>
            <a:endParaRPr lang="en-US" b="1">
              <a:solidFill>
                <a:srgbClr val="8B8D08"/>
              </a:solidFill>
              <a:sym typeface="+mn-ea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4740" y="3106420"/>
            <a:ext cx="7715250" cy="360807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3" name="Text Box 2"/>
          <p:cNvSpPr txBox="1"/>
          <p:nvPr/>
        </p:nvSpPr>
        <p:spPr>
          <a:xfrm>
            <a:off x="1094740" y="2395220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400">
                <a:sym typeface="+mn-ea"/>
                <a:hlinkClick r:id="rId2" action="ppaction://hlinkfile"/>
              </a:rPr>
              <a:t>https://www.anaconda.com/</a:t>
            </a:r>
            <a:endParaRPr lang="en-US" sz="2400">
              <a:sym typeface="+mn-ea"/>
              <a:hlinkClick r:id="rId2" action="ppaction://hlinkfile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1094740" y="1123950"/>
            <a:ext cx="10154285" cy="11938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2400"/>
              <a:t>Anaconda adalah </a:t>
            </a:r>
            <a:r>
              <a:rPr lang="en-US" sz="2400">
                <a:sym typeface="+mn-ea"/>
              </a:rPr>
              <a:t>package management yang membantu ngelola resource seperti package / library dan environment pada python. Anaconda merupakan alternatif </a:t>
            </a:r>
            <a:r>
              <a:rPr lang="en-US" sz="2400" b="1">
                <a:sym typeface="+mn-ea"/>
              </a:rPr>
              <a:t>pip </a:t>
            </a:r>
            <a:r>
              <a:rPr lang="en-US" sz="2400">
                <a:sym typeface="+mn-ea"/>
              </a:rPr>
              <a:t>package management.</a:t>
            </a:r>
            <a:endParaRPr lang="en-US" sz="2400"/>
          </a:p>
          <a:p>
            <a:endParaRPr lang="en-US"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" name="Rectangles 14"/>
          <p:cNvSpPr/>
          <p:nvPr/>
        </p:nvSpPr>
        <p:spPr>
          <a:xfrm>
            <a:off x="0" y="1557655"/>
            <a:ext cx="12207240" cy="53003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1056005" y="1557655"/>
            <a:ext cx="1057275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/>
              <a:t>Download </a:t>
            </a:r>
            <a:r>
              <a:rPr lang="en-US" sz="2400" b="1"/>
              <a:t>Miniconda </a:t>
            </a:r>
            <a:r>
              <a:rPr lang="en-US" sz="2400"/>
              <a:t>dari URL</a:t>
            </a:r>
            <a:endParaRPr lang="en-US" sz="240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en-US" sz="2400">
                <a:hlinkClick r:id="rId1" tooltip="" action="ppaction://hlinkfile"/>
              </a:rPr>
              <a:t>https://www.anaconda.com/download/success</a:t>
            </a:r>
            <a:endParaRPr lang="en-US" altLang="en-US" sz="2400">
              <a:hlinkClick r:id="rId1" tooltip="" action="ppaction://hlinkfile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en-US" sz="240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altLang="en-US" sz="2400"/>
              <a:t>Lalu install di computer</a:t>
            </a:r>
            <a:endParaRPr lang="en-US" altLang="en-US" sz="2400"/>
          </a:p>
        </p:txBody>
      </p:sp>
      <p:sp>
        <p:nvSpPr>
          <p:cNvPr id="7" name="Rectangles 6"/>
          <p:cNvSpPr/>
          <p:nvPr/>
        </p:nvSpPr>
        <p:spPr>
          <a:xfrm>
            <a:off x="0" y="0"/>
            <a:ext cx="12207875" cy="975995"/>
          </a:xfrm>
          <a:prstGeom prst="rect">
            <a:avLst/>
          </a:prstGeom>
          <a:solidFill>
            <a:srgbClr val="E5E79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Title 1"/>
          <p:cNvSpPr>
            <a:spLocks noGrp="1"/>
          </p:cNvSpPr>
          <p:nvPr/>
        </p:nvSpPr>
        <p:spPr>
          <a:xfrm>
            <a:off x="403860" y="0"/>
            <a:ext cx="10515600" cy="975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solidFill>
                  <a:srgbClr val="8B8D08"/>
                </a:solidFill>
                <a:sym typeface="+mn-ea"/>
              </a:rPr>
              <a:t>Download &amp; Install </a:t>
            </a:r>
            <a:r>
              <a:rPr lang="en-US" b="1">
                <a:solidFill>
                  <a:srgbClr val="8B8D08"/>
                </a:solidFill>
                <a:sym typeface="+mn-ea"/>
              </a:rPr>
              <a:t>Miniconda</a:t>
            </a:r>
            <a:endParaRPr lang="en-US" b="1">
              <a:solidFill>
                <a:srgbClr val="8B8D08"/>
              </a:solidFill>
              <a:sym typeface="+mn-ea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005" y="3288665"/>
            <a:ext cx="8406765" cy="327088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 r="45896" b="35408"/>
          <a:stretch>
            <a:fillRect/>
          </a:stretch>
        </p:blipFill>
        <p:spPr>
          <a:xfrm>
            <a:off x="7352030" y="2881630"/>
            <a:ext cx="4855845" cy="303847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6" name="Text Box 5"/>
          <p:cNvSpPr txBox="1"/>
          <p:nvPr/>
        </p:nvSpPr>
        <p:spPr>
          <a:xfrm>
            <a:off x="270510" y="1691005"/>
            <a:ext cx="6913245" cy="37846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/>
              <a:t>Setelah berhasil di-install, cari aplikasi “Anaconda Prompt” pada computer, lalu klik untuk membukanya,</a:t>
            </a:r>
            <a:endParaRPr lang="en-US" sz="2400" b="1"/>
          </a:p>
          <a:p>
            <a:endParaRPr lang="en-US" sz="2400" b="1"/>
          </a:p>
          <a:p>
            <a:r>
              <a:rPr lang="en-US" sz="2400" b="1"/>
              <a:t>Anaconda Prompt </a:t>
            </a:r>
            <a:r>
              <a:rPr lang="en-US" sz="2400"/>
              <a:t>adalah management conda tools &amp; package berbasis </a:t>
            </a:r>
            <a:r>
              <a:rPr lang="en-US" sz="2400" b="1"/>
              <a:t>CLI</a:t>
            </a:r>
            <a:r>
              <a:rPr lang="en-US" sz="2400"/>
              <a:t>, penggunaanya seperti kita menggunakan CMD. </a:t>
            </a:r>
            <a:endParaRPr lang="en-US" sz="2400"/>
          </a:p>
          <a:p>
            <a:endParaRPr lang="en-US" sz="2400"/>
          </a:p>
          <a:p>
            <a:r>
              <a:rPr lang="en-US" sz="2400"/>
              <a:t>Anaconda Prompt dapat digunakan untuk membantu ngelola resource seperti package / library dan environment pada python.</a:t>
            </a:r>
            <a:endParaRPr lang="en-US" sz="2400"/>
          </a:p>
        </p:txBody>
      </p:sp>
      <p:sp>
        <p:nvSpPr>
          <p:cNvPr id="9" name="Rectangles 8"/>
          <p:cNvSpPr/>
          <p:nvPr/>
        </p:nvSpPr>
        <p:spPr>
          <a:xfrm>
            <a:off x="0" y="0"/>
            <a:ext cx="12207875" cy="975995"/>
          </a:xfrm>
          <a:prstGeom prst="rect">
            <a:avLst/>
          </a:prstGeom>
          <a:solidFill>
            <a:srgbClr val="E5E79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" name="Title 1"/>
          <p:cNvSpPr>
            <a:spLocks noGrp="1"/>
          </p:cNvSpPr>
          <p:nvPr/>
        </p:nvSpPr>
        <p:spPr>
          <a:xfrm>
            <a:off x="403860" y="0"/>
            <a:ext cx="10515600" cy="975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solidFill>
                  <a:srgbClr val="8B8D08"/>
                </a:solidFill>
                <a:sym typeface="+mn-ea"/>
              </a:rPr>
              <a:t>Anaconda Prompt</a:t>
            </a:r>
            <a:endParaRPr lang="en-US" b="1">
              <a:solidFill>
                <a:srgbClr val="8B8D08"/>
              </a:solidFill>
              <a:sym typeface="+mn-ea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rcRect l="2932" t="9167"/>
          <a:stretch>
            <a:fillRect/>
          </a:stretch>
        </p:blipFill>
        <p:spPr>
          <a:xfrm>
            <a:off x="7352030" y="1560830"/>
            <a:ext cx="4053205" cy="9131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" name="Rectangles 14"/>
          <p:cNvSpPr/>
          <p:nvPr/>
        </p:nvSpPr>
        <p:spPr>
          <a:xfrm>
            <a:off x="0" y="803910"/>
            <a:ext cx="12207240" cy="60540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270510" y="1135380"/>
            <a:ext cx="119214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Buka </a:t>
            </a:r>
            <a:r>
              <a:rPr lang="en-US" sz="2400" b="1"/>
              <a:t>Anaconda Prompt</a:t>
            </a:r>
            <a:r>
              <a:rPr lang="en-US" sz="2400"/>
              <a:t>, lalu jalankan perintah berikut,</a:t>
            </a:r>
            <a:endParaRPr lang="en-US">
              <a:latin typeface="Cascadia Mono Light" panose="020B0609020000020004" charset="0"/>
              <a:cs typeface="Cascadia Mono Light" panose="020B0609020000020004" charset="0"/>
            </a:endParaRPr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rcRect t="62055"/>
          <a:stretch>
            <a:fillRect/>
          </a:stretch>
        </p:blipFill>
        <p:spPr>
          <a:xfrm>
            <a:off x="694690" y="2838450"/>
            <a:ext cx="6054090" cy="99441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270510" y="2177415"/>
            <a:ext cx="119373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Jika muncul opsi </a:t>
            </a:r>
            <a:r>
              <a:rPr lang="en-US">
                <a:latin typeface="Cascadia Mono Light" panose="020B0609020000020004" charset="0"/>
                <a:cs typeface="Cascadia Mono Light" panose="020B0609020000020004" charset="0"/>
              </a:rPr>
              <a:t>Proceed ([y]/n)? </a:t>
            </a:r>
            <a:r>
              <a:rPr lang="en-US" sz="2400">
                <a:latin typeface="Calibri" panose="020F0502020204030204" charset="0"/>
                <a:cs typeface="Calibri" panose="020F0502020204030204" charset="0"/>
              </a:rPr>
              <a:t>ketik</a:t>
            </a:r>
            <a:r>
              <a:rPr lang="en-US">
                <a:latin typeface="Cascadia Mono Light" panose="020B0609020000020004" charset="0"/>
                <a:cs typeface="Cascadia Mono Light" panose="020B0609020000020004" charset="0"/>
              </a:rPr>
              <a:t> y </a:t>
            </a:r>
            <a:r>
              <a:rPr lang="en-US" sz="2400">
                <a:latin typeface="Calibri" panose="020F0502020204030204" charset="0"/>
                <a:cs typeface="Calibri" panose="020F0502020204030204" charset="0"/>
              </a:rPr>
              <a:t>lalu tekan </a:t>
            </a:r>
            <a:r>
              <a:rPr lang="en-US" sz="2400" b="1">
                <a:latin typeface="Calibri" panose="020F0502020204030204" charset="0"/>
                <a:cs typeface="Calibri" panose="020F0502020204030204" charset="0"/>
              </a:rPr>
              <a:t>enter </a:t>
            </a:r>
            <a:r>
              <a:rPr lang="en-US" sz="2400">
                <a:latin typeface="Calibri" panose="020F0502020204030204" charset="0"/>
                <a:cs typeface="Calibri" panose="020F0502020204030204" charset="0"/>
              </a:rPr>
              <a:t>untuk melanjutkan</a:t>
            </a:r>
            <a:endParaRPr lang="en-US" sz="2400"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690" y="5931535"/>
            <a:ext cx="5265420" cy="793115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326390" y="4099560"/>
            <a:ext cx="1186561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Jika proses selesai, jalankan perintah, </a:t>
            </a:r>
            <a:endParaRPr lang="en-US" sz="2400"/>
          </a:p>
          <a:p>
            <a:pPr indent="0">
              <a:buFont typeface="Arial" panose="020B0604020202020204" pitchFamily="34" charset="0"/>
              <a:buNone/>
            </a:pPr>
            <a:endParaRPr lang="en-US">
              <a:latin typeface="Cascadia Mono Light" panose="020B0609020000020004" charset="0"/>
              <a:cs typeface="Cascadia Mono Light" panose="020B0609020000020004" charset="0"/>
              <a:sym typeface="+mn-ea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>
                <a:latin typeface="Cascadia Mono Light" panose="020B0609020000020004" charset="0"/>
                <a:cs typeface="Cascadia Mono Light" panose="020B0609020000020004" charset="0"/>
                <a:sym typeface="+mn-ea"/>
              </a:rPr>
              <a:t>  conda activate BelajarOpenCV </a:t>
            </a:r>
            <a:endParaRPr lang="en-US">
              <a:latin typeface="Cascadia Mono Light" panose="020B0609020000020004" charset="0"/>
              <a:cs typeface="Cascadia Mono Light" panose="020B0609020000020004" charset="0"/>
              <a:sym typeface="+mn-ea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sz="2400">
                <a:latin typeface="Calibri" panose="020F0502020204030204" charset="0"/>
                <a:cs typeface="Calibri" panose="020F0502020204030204" charset="0"/>
                <a:sym typeface="+mn-ea"/>
              </a:rPr>
              <a:t>    </a:t>
            </a:r>
            <a:endParaRPr lang="en-US" sz="2400">
              <a:latin typeface="Calibri" panose="020F0502020204030204" charset="0"/>
              <a:cs typeface="Calibri" panose="020F0502020204030204" charset="0"/>
              <a:sym typeface="+mn-ea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sz="2400">
                <a:latin typeface="Calibri" panose="020F0502020204030204" charset="0"/>
                <a:cs typeface="Calibri" panose="020F0502020204030204" charset="0"/>
                <a:sym typeface="+mn-ea"/>
              </a:rPr>
              <a:t>    untuk masuk ke environment tersebut</a:t>
            </a:r>
            <a:endParaRPr lang="en-US" sz="2400">
              <a:latin typeface="Calibri" panose="020F0502020204030204" charset="0"/>
              <a:cs typeface="Calibri" panose="020F0502020204030204" charset="0"/>
              <a:sym typeface="+mn-ea"/>
            </a:endParaRPr>
          </a:p>
        </p:txBody>
      </p:sp>
      <p:sp>
        <p:nvSpPr>
          <p:cNvPr id="3" name="Rectangles 2"/>
          <p:cNvSpPr/>
          <p:nvPr/>
        </p:nvSpPr>
        <p:spPr>
          <a:xfrm>
            <a:off x="0" y="0"/>
            <a:ext cx="12207875" cy="975995"/>
          </a:xfrm>
          <a:prstGeom prst="rect">
            <a:avLst/>
          </a:prstGeom>
          <a:solidFill>
            <a:srgbClr val="E5E79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" name="Title 1"/>
          <p:cNvSpPr>
            <a:spLocks noGrp="1"/>
          </p:cNvSpPr>
          <p:nvPr/>
        </p:nvSpPr>
        <p:spPr>
          <a:xfrm>
            <a:off x="403860" y="0"/>
            <a:ext cx="10515600" cy="975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solidFill>
                  <a:srgbClr val="8B8D08"/>
                </a:solidFill>
                <a:sym typeface="+mn-ea"/>
              </a:rPr>
              <a:t>Membuat Python Environment</a:t>
            </a:r>
            <a:endParaRPr lang="en-US" b="1">
              <a:solidFill>
                <a:srgbClr val="8B8D08"/>
              </a:solidFill>
              <a:sym typeface="+mn-ea"/>
            </a:endParaRPr>
          </a:p>
        </p:txBody>
      </p:sp>
      <p:sp>
        <p:nvSpPr>
          <p:cNvPr id="12" name="Text Box 11"/>
          <p:cNvSpPr txBox="1"/>
          <p:nvPr/>
        </p:nvSpPr>
        <p:spPr>
          <a:xfrm>
            <a:off x="660400" y="1663700"/>
            <a:ext cx="115468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lang="en-US">
                <a:latin typeface="Cascadia Mono Light" panose="020B0609020000020004" charset="0"/>
                <a:cs typeface="Cascadia Mono Light" panose="020B0609020000020004" charset="0"/>
              </a:rPr>
              <a:t>conda create --name BelajarOpenCV python=3.10</a:t>
            </a:r>
            <a:endParaRPr lang="en-US">
              <a:latin typeface="Cascadia Mono Light" panose="020B0609020000020004" charset="0"/>
              <a:cs typeface="Cascadia Mono Light" panose="020B06090200000200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15" name="Rectangles 14"/>
          <p:cNvSpPr/>
          <p:nvPr/>
        </p:nvSpPr>
        <p:spPr>
          <a:xfrm>
            <a:off x="0" y="803910"/>
            <a:ext cx="12207240" cy="60540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270510" y="1078230"/>
            <a:ext cx="10915015" cy="20612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/>
              <a:t>Lalu jalankan tiga perintah berikut di conda environment (BelajarOpenCV),</a:t>
            </a:r>
            <a:endParaRPr lang="en-US" sz="2000"/>
          </a:p>
          <a:p>
            <a:br>
              <a:rPr lang="en-US" sz="1600">
                <a:latin typeface="Cascadia Mono Light" panose="020B0609020000020004" charset="0"/>
                <a:cs typeface="Cascadia Mono Light" panose="020B0609020000020004" charset="0"/>
              </a:rPr>
            </a:br>
            <a:r>
              <a:rPr lang="en-US" sz="1600">
                <a:latin typeface="Cascadia Mono Light" panose="020B0609020000020004" charset="0"/>
                <a:cs typeface="Cascadia Mono Light" panose="020B0609020000020004" charset="0"/>
              </a:rPr>
              <a:t>conda config --set ssl_verify no</a:t>
            </a:r>
            <a:endParaRPr lang="en-US" sz="1600">
              <a:latin typeface="Cascadia Mono Light" panose="020B0609020000020004" charset="0"/>
              <a:cs typeface="Cascadia Mono Light" panose="020B0609020000020004" charset="0"/>
            </a:endParaRPr>
          </a:p>
          <a:p>
            <a:endParaRPr lang="en-US" sz="1600">
              <a:latin typeface="Cascadia Mono Light" panose="020B0609020000020004" charset="0"/>
              <a:cs typeface="Cascadia Mono Light" panose="020B0609020000020004" charset="0"/>
            </a:endParaRPr>
          </a:p>
          <a:p>
            <a:r>
              <a:rPr lang="en-US" sz="1600">
                <a:latin typeface="Cascadia Mono Light" panose="020B0609020000020004" charset="0"/>
                <a:cs typeface="Cascadia Mono Light" panose="020B0609020000020004" charset="0"/>
              </a:rPr>
              <a:t>pip install ipykernel</a:t>
            </a:r>
            <a:endParaRPr lang="en-US" sz="1600">
              <a:latin typeface="Cascadia Mono Light" panose="020B0609020000020004" charset="0"/>
              <a:cs typeface="Cascadia Mono Light" panose="020B0609020000020004" charset="0"/>
            </a:endParaRPr>
          </a:p>
          <a:p>
            <a:r>
              <a:rPr lang="en-US" sz="1600">
                <a:latin typeface="Cascadia Mono Light" panose="020B0609020000020004" charset="0"/>
                <a:cs typeface="Cascadia Mono Light" panose="020B0609020000020004" charset="0"/>
              </a:rPr>
              <a:t> </a:t>
            </a:r>
            <a:br>
              <a:rPr lang="en-US" sz="1600">
                <a:latin typeface="Cascadia Mono Light" panose="020B0609020000020004" charset="0"/>
                <a:cs typeface="Cascadia Mono Light" panose="020B0609020000020004" charset="0"/>
              </a:rPr>
            </a:br>
            <a:r>
              <a:rPr lang="en-US" sz="1400">
                <a:latin typeface="Cascadia Mono Light" panose="020B0609020000020004" charset="0"/>
                <a:cs typeface="Cascadia Mono Light" panose="020B0609020000020004" charset="0"/>
              </a:rPr>
              <a:t>pip install --default-timeout=300 -r </a:t>
            </a:r>
            <a:r>
              <a:rPr lang="en-US" altLang="en-US" sz="1400">
                <a:latin typeface="Cascadia Mono Light" panose="020B0609020000020004" charset="0"/>
                <a:cs typeface="Cascadia Mono Light" panose="020B0609020000020004" charset="0"/>
              </a:rPr>
              <a:t>https://raw.githubusercontent.com/Muhammad-Yunus/Training-Computer-Vision-Gandha/refs/heads/main/requirements.txt</a:t>
            </a:r>
            <a:endParaRPr lang="en-US" altLang="en-US" sz="1400">
              <a:latin typeface="Cascadia Mono Light" panose="020B0609020000020004" charset="0"/>
              <a:cs typeface="Cascadia Mono Light" panose="020B0609020000020004" charset="0"/>
            </a:endParaRPr>
          </a:p>
        </p:txBody>
      </p:sp>
      <p:pic>
        <p:nvPicPr>
          <p:cNvPr id="10" name="Content Placeholder 9"/>
          <p:cNvPicPr>
            <a:picLocks noChangeAspect="1"/>
          </p:cNvPicPr>
          <p:nvPr>
            <p:ph idx="1"/>
          </p:nvPr>
        </p:nvPicPr>
        <p:blipFill>
          <a:blip r:embed="rId1"/>
          <a:srcRect t="6601" b="42202"/>
          <a:stretch>
            <a:fillRect/>
          </a:stretch>
        </p:blipFill>
        <p:spPr>
          <a:xfrm>
            <a:off x="777240" y="3711575"/>
            <a:ext cx="9719945" cy="2104390"/>
          </a:xfrm>
          <a:prstGeom prst="rect">
            <a:avLst/>
          </a:prstGeom>
        </p:spPr>
      </p:pic>
      <p:sp>
        <p:nvSpPr>
          <p:cNvPr id="11" name="Text Box 10"/>
          <p:cNvSpPr txBox="1"/>
          <p:nvPr/>
        </p:nvSpPr>
        <p:spPr>
          <a:xfrm>
            <a:off x="397510" y="5961380"/>
            <a:ext cx="1004443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/>
              <a:t>Pada file requirements.txt diatas sudah terdapat list library yang kita butuhkan untuk proses pembelajaran</a:t>
            </a:r>
            <a:endParaRPr lang="en-US" sz="1600">
              <a:latin typeface="Cascadia Mono Light" panose="020B0609020000020004" charset="0"/>
              <a:cs typeface="Cascadia Mono Light" panose="020B0609020000020004" charset="0"/>
            </a:endParaRPr>
          </a:p>
        </p:txBody>
      </p:sp>
      <p:sp>
        <p:nvSpPr>
          <p:cNvPr id="4" name="Rectangles 3"/>
          <p:cNvSpPr/>
          <p:nvPr/>
        </p:nvSpPr>
        <p:spPr>
          <a:xfrm>
            <a:off x="0" y="0"/>
            <a:ext cx="12207875" cy="975995"/>
          </a:xfrm>
          <a:prstGeom prst="rect">
            <a:avLst/>
          </a:prstGeom>
          <a:solidFill>
            <a:srgbClr val="E5E79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" name="Title 1"/>
          <p:cNvSpPr>
            <a:spLocks noGrp="1"/>
          </p:cNvSpPr>
          <p:nvPr/>
        </p:nvSpPr>
        <p:spPr>
          <a:xfrm>
            <a:off x="403860" y="0"/>
            <a:ext cx="10515600" cy="975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solidFill>
                  <a:srgbClr val="8B8D08"/>
                </a:solidFill>
                <a:sym typeface="+mn-ea"/>
              </a:rPr>
              <a:t>Install Python Package</a:t>
            </a:r>
            <a:endParaRPr lang="en-US" b="1">
              <a:solidFill>
                <a:srgbClr val="8B8D08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15" name="Rectangles 14"/>
          <p:cNvSpPr/>
          <p:nvPr/>
        </p:nvSpPr>
        <p:spPr>
          <a:xfrm>
            <a:off x="0" y="803910"/>
            <a:ext cx="12207240" cy="60540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270510" y="1186815"/>
            <a:ext cx="1192085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Visual Studio Code adalah code editor serbaguna yang sangat populer dikalangan developer. Kita akan mendevelop aplikasi OpenCV menggunakan Visual Studio Code yang terhubung ke Conda Evironment </a:t>
            </a:r>
            <a:r>
              <a:rPr lang="en-US" sz="2400" b="1"/>
              <a:t>BelajarOpenCV</a:t>
            </a:r>
            <a:r>
              <a:rPr lang="en-US" sz="2400"/>
              <a:t> yang sudah kita buat sebelumnya.</a:t>
            </a:r>
            <a:endParaRPr 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Download dan install Visual Studio Code dari URL berikut </a:t>
            </a:r>
            <a:r>
              <a:rPr lang="en-US" sz="2400">
                <a:hlinkClick r:id="rId1" action="ppaction://hlinkfile"/>
              </a:rPr>
              <a:t>https://code.visualstudio.com/download</a:t>
            </a:r>
            <a:r>
              <a:rPr lang="en-US" sz="2400"/>
              <a:t> </a:t>
            </a:r>
            <a:endParaRPr lang="en-US" sz="2400">
              <a:latin typeface="Cascadia Mono Light" panose="020B0609020000020004" charset="0"/>
              <a:cs typeface="Cascadia Mono Light" panose="020B0609020000020004" charset="0"/>
            </a:endParaRPr>
          </a:p>
        </p:txBody>
      </p:sp>
      <p:pic>
        <p:nvPicPr>
          <p:cNvPr id="3" name="Content Placeholder 2"/>
          <p:cNvPicPr>
            <a:picLocks noChangeAspect="1"/>
          </p:cNvPicPr>
          <p:nvPr>
            <p:ph idx="1"/>
          </p:nvPr>
        </p:nvPicPr>
        <p:blipFill>
          <a:blip r:embed="rId2"/>
          <a:srcRect b="9938"/>
          <a:stretch>
            <a:fillRect/>
          </a:stretch>
        </p:blipFill>
        <p:spPr>
          <a:xfrm>
            <a:off x="662305" y="3612515"/>
            <a:ext cx="6837045" cy="3245485"/>
          </a:xfrm>
          <a:prstGeom prst="rect">
            <a:avLst/>
          </a:prstGeom>
        </p:spPr>
      </p:pic>
      <p:sp>
        <p:nvSpPr>
          <p:cNvPr id="5" name="Rectangles 4"/>
          <p:cNvSpPr/>
          <p:nvPr/>
        </p:nvSpPr>
        <p:spPr>
          <a:xfrm>
            <a:off x="0" y="0"/>
            <a:ext cx="12207875" cy="975995"/>
          </a:xfrm>
          <a:prstGeom prst="rect">
            <a:avLst/>
          </a:prstGeom>
          <a:solidFill>
            <a:srgbClr val="E5E79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" name="Title 1"/>
          <p:cNvSpPr>
            <a:spLocks noGrp="1"/>
          </p:cNvSpPr>
          <p:nvPr/>
        </p:nvSpPr>
        <p:spPr>
          <a:xfrm>
            <a:off x="403860" y="0"/>
            <a:ext cx="10515600" cy="975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solidFill>
                  <a:srgbClr val="8B8D08"/>
                </a:solidFill>
                <a:sym typeface="+mn-ea"/>
              </a:rPr>
              <a:t>Download &amp; Install Visual Studio Code</a:t>
            </a:r>
            <a:endParaRPr lang="en-US" b="1">
              <a:solidFill>
                <a:srgbClr val="8B8D08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0510" y="170180"/>
            <a:ext cx="10515600" cy="633730"/>
          </a:xfrm>
        </p:spPr>
        <p:txBody>
          <a:bodyPr>
            <a:normAutofit fontScale="90000"/>
          </a:bodyPr>
          <a:p>
            <a:r>
              <a:rPr lang="en-US">
                <a:solidFill>
                  <a:schemeClr val="bg1"/>
                </a:solidFill>
                <a:sym typeface="+mn-ea"/>
              </a:rPr>
              <a:t>Jupyter Notebook di VS Code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270510" y="1099820"/>
            <a:ext cx="11783060" cy="28809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Jupyter Notebook adalah sistem yang memungkinkan kita </a:t>
            </a:r>
            <a:r>
              <a:rPr lang="en-US" sz="2400" b="1"/>
              <a:t>menjalankan kode Python dan Markdown dalam satu lingkungan</a:t>
            </a:r>
            <a:r>
              <a:rPr lang="en-US" sz="2400"/>
              <a:t>. </a:t>
            </a:r>
            <a:endParaRPr 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VS Code dapat terintegrasi langsung dengan Jupyter Notebook Melalui </a:t>
            </a:r>
            <a:r>
              <a:rPr lang="en-US" sz="2400" b="1"/>
              <a:t>Jupyter Extension,</a:t>
            </a:r>
            <a:endParaRPr 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Pilih menu </a:t>
            </a:r>
            <a:r>
              <a:rPr lang="en-US" sz="2400" b="1"/>
              <a:t>Extension</a:t>
            </a:r>
            <a:r>
              <a:rPr lang="en-US" sz="2400"/>
              <a:t>, lalu cari ‘</a:t>
            </a:r>
            <a:r>
              <a:rPr lang="en-US" sz="2400" b="1"/>
              <a:t>Jupyter’ </a:t>
            </a:r>
            <a:r>
              <a:rPr lang="en-US" sz="2400"/>
              <a:t>pada Extension Marketplace, klik untuk melihat detailnya, setelah itu klik install. </a:t>
            </a:r>
            <a:r>
              <a:rPr lang="en-US" sz="2400" i="1">
                <a:solidFill>
                  <a:srgbClr val="8B8D08"/>
                </a:solidFill>
              </a:rPr>
              <a:t>Pada screenshot berikut, tidak terlihat tombol instal, karena saya sudah menginstall sebelumnya.</a:t>
            </a:r>
            <a:endParaRPr lang="en-US" sz="2400" i="1">
              <a:solidFill>
                <a:srgbClr val="8B8D0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i="1">
              <a:solidFill>
                <a:srgbClr val="8B8D08"/>
              </a:solidFill>
              <a:latin typeface="Cascadia Mono Light" panose="020B0609020000020004" charset="0"/>
              <a:cs typeface="Cascadia Mono Light" panose="020B0609020000020004" charset="0"/>
            </a:endParaRPr>
          </a:p>
        </p:txBody>
      </p:sp>
      <p:pic>
        <p:nvPicPr>
          <p:cNvPr id="5" name="Content Placeholder 4"/>
          <p:cNvPicPr>
            <a:picLocks noChangeAspect="1"/>
          </p:cNvPicPr>
          <p:nvPr>
            <p:ph idx="1"/>
          </p:nvPr>
        </p:nvPicPr>
        <p:blipFill>
          <a:blip r:embed="rId1"/>
          <a:srcRect t="11824" b="8490"/>
          <a:stretch>
            <a:fillRect/>
          </a:stretch>
        </p:blipFill>
        <p:spPr>
          <a:xfrm>
            <a:off x="594995" y="4194175"/>
            <a:ext cx="7731760" cy="2663825"/>
          </a:xfrm>
          <a:prstGeom prst="rect">
            <a:avLst/>
          </a:prstGeom>
        </p:spPr>
      </p:pic>
      <p:sp>
        <p:nvSpPr>
          <p:cNvPr id="8" name="Rectangles 7"/>
          <p:cNvSpPr/>
          <p:nvPr/>
        </p:nvSpPr>
        <p:spPr>
          <a:xfrm>
            <a:off x="0" y="0"/>
            <a:ext cx="12207875" cy="975995"/>
          </a:xfrm>
          <a:prstGeom prst="rect">
            <a:avLst/>
          </a:prstGeom>
          <a:solidFill>
            <a:srgbClr val="E5E79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" name="Title 1"/>
          <p:cNvSpPr>
            <a:spLocks noGrp="1"/>
          </p:cNvSpPr>
          <p:nvPr/>
        </p:nvSpPr>
        <p:spPr>
          <a:xfrm>
            <a:off x="403860" y="0"/>
            <a:ext cx="10515600" cy="975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solidFill>
                  <a:srgbClr val="8B8D08"/>
                </a:solidFill>
                <a:sym typeface="+mn-ea"/>
              </a:rPr>
              <a:t>Install Jupyter Notebook Extension di VS Code</a:t>
            </a:r>
            <a:endParaRPr lang="en-US" b="1">
              <a:solidFill>
                <a:srgbClr val="8B8D08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6" name="Text Box 5"/>
          <p:cNvSpPr txBox="1"/>
          <p:nvPr/>
        </p:nvSpPr>
        <p:spPr>
          <a:xfrm>
            <a:off x="270510" y="1131570"/>
            <a:ext cx="11920855" cy="39573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Selanjutnya kita akan membuat file Jupyter Notebook di VS Code </a:t>
            </a:r>
            <a:endParaRPr 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Buka VSCode lalu tekan </a:t>
            </a:r>
            <a:r>
              <a:rPr lang="en-US" sz="2400">
                <a:solidFill>
                  <a:srgbClr val="C00000"/>
                </a:solidFill>
              </a:rPr>
              <a:t>CTRL+SHIFT+P</a:t>
            </a:r>
            <a:endParaRPr 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Setelah itu ketik ‘</a:t>
            </a:r>
            <a:r>
              <a:rPr lang="en-US" sz="2400">
                <a:solidFill>
                  <a:srgbClr val="C00000"/>
                </a:solidFill>
              </a:rPr>
              <a:t>Jupyter’</a:t>
            </a:r>
            <a:r>
              <a:rPr lang="en-US" sz="2400"/>
              <a:t>, maka akan muncul daftar sebagai berikut,</a:t>
            </a:r>
            <a:endParaRPr 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Pilih ‘</a:t>
            </a:r>
            <a:r>
              <a:rPr lang="en-US" sz="2400">
                <a:solidFill>
                  <a:srgbClr val="C00000"/>
                </a:solidFill>
              </a:rPr>
              <a:t>Create: New Jupyter Notebook</a:t>
            </a:r>
            <a:r>
              <a:rPr lang="en-US" sz="2400"/>
              <a:t>’, maka akan ada file notebook sebagai berikut,</a:t>
            </a:r>
            <a:endParaRPr 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>
              <a:latin typeface="Cascadia Mono Light" panose="020B0609020000020004" charset="0"/>
              <a:cs typeface="Cascadia Mono Light" panose="020B0609020000020004" charset="0"/>
            </a:endParaRPr>
          </a:p>
        </p:txBody>
      </p:sp>
      <p:pic>
        <p:nvPicPr>
          <p:cNvPr id="5" name="Content Placeholder 4"/>
          <p:cNvPicPr>
            <a:picLocks noChangeAspect="1"/>
          </p:cNvPicPr>
          <p:nvPr>
            <p:ph idx="1"/>
          </p:nvPr>
        </p:nvPicPr>
        <p:blipFill>
          <a:blip r:embed="rId1"/>
          <a:srcRect b="40677"/>
          <a:stretch>
            <a:fillRect/>
          </a:stretch>
        </p:blipFill>
        <p:spPr>
          <a:xfrm>
            <a:off x="760730" y="2451735"/>
            <a:ext cx="7505700" cy="150304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rcRect b="52888"/>
          <a:stretch>
            <a:fillRect/>
          </a:stretch>
        </p:blipFill>
        <p:spPr>
          <a:xfrm>
            <a:off x="760730" y="4946015"/>
            <a:ext cx="11307445" cy="1911985"/>
          </a:xfrm>
          <a:prstGeom prst="rect">
            <a:avLst/>
          </a:prstGeom>
        </p:spPr>
      </p:pic>
      <p:sp>
        <p:nvSpPr>
          <p:cNvPr id="8" name="Rectangles 7"/>
          <p:cNvSpPr/>
          <p:nvPr/>
        </p:nvSpPr>
        <p:spPr>
          <a:xfrm>
            <a:off x="0" y="0"/>
            <a:ext cx="12207875" cy="975995"/>
          </a:xfrm>
          <a:prstGeom prst="rect">
            <a:avLst/>
          </a:prstGeom>
          <a:solidFill>
            <a:srgbClr val="E5E79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" name="Title 1"/>
          <p:cNvSpPr>
            <a:spLocks noGrp="1"/>
          </p:cNvSpPr>
          <p:nvPr/>
        </p:nvSpPr>
        <p:spPr>
          <a:xfrm>
            <a:off x="403860" y="0"/>
            <a:ext cx="10515600" cy="975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solidFill>
                  <a:srgbClr val="8B8D08"/>
                </a:solidFill>
                <a:sym typeface="+mn-ea"/>
              </a:rPr>
              <a:t>Cara Membuat Notebook File</a:t>
            </a:r>
            <a:endParaRPr lang="en-US" b="1">
              <a:solidFill>
                <a:srgbClr val="8B8D08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6" name="Text Box 5"/>
          <p:cNvSpPr txBox="1"/>
          <p:nvPr/>
        </p:nvSpPr>
        <p:spPr>
          <a:xfrm>
            <a:off x="270510" y="1066800"/>
            <a:ext cx="1192085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/>
              <a:t>Pilih </a:t>
            </a:r>
            <a:r>
              <a:rPr lang="en-US" sz="2000">
                <a:solidFill>
                  <a:srgbClr val="C00000"/>
                </a:solidFill>
              </a:rPr>
              <a:t>Select Kernel</a:t>
            </a:r>
            <a:r>
              <a:rPr lang="en-US" sz="2000"/>
              <a:t> di pojok kanan atas pada File Jupyter Notebook yang sebelumnya dibuat</a:t>
            </a:r>
            <a:endParaRPr lang="en-US" sz="1600">
              <a:latin typeface="Cascadia Mono Light" panose="020B0609020000020004" charset="0"/>
              <a:cs typeface="Cascadia Mono Light" panose="020B0609020000020004" charset="0"/>
            </a:endParaRPr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rcRect t="20641" b="34865"/>
          <a:stretch>
            <a:fillRect/>
          </a:stretch>
        </p:blipFill>
        <p:spPr>
          <a:xfrm>
            <a:off x="713740" y="1465580"/>
            <a:ext cx="6087745" cy="78930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b="11172"/>
          <a:stretch>
            <a:fillRect/>
          </a:stretch>
        </p:blipFill>
        <p:spPr>
          <a:xfrm>
            <a:off x="713740" y="2670810"/>
            <a:ext cx="4612005" cy="91884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rcRect b="17742"/>
          <a:stretch>
            <a:fillRect/>
          </a:stretch>
        </p:blipFill>
        <p:spPr>
          <a:xfrm>
            <a:off x="713740" y="3987800"/>
            <a:ext cx="4612005" cy="100393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713740" y="5412105"/>
            <a:ext cx="4612005" cy="1407795"/>
          </a:xfrm>
          <a:prstGeom prst="rect">
            <a:avLst/>
          </a:prstGeom>
        </p:spPr>
      </p:pic>
      <p:sp>
        <p:nvSpPr>
          <p:cNvPr id="11" name="Text Box 10"/>
          <p:cNvSpPr txBox="1"/>
          <p:nvPr>
            <p:custDataLst>
              <p:tags r:id="rId8"/>
            </p:custDataLst>
          </p:nvPr>
        </p:nvSpPr>
        <p:spPr>
          <a:xfrm>
            <a:off x="260985" y="2264410"/>
            <a:ext cx="1192085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/>
              <a:t>Pilih ‘</a:t>
            </a:r>
            <a:r>
              <a:rPr lang="en-US" sz="2000">
                <a:solidFill>
                  <a:srgbClr val="C00000"/>
                </a:solidFill>
              </a:rPr>
              <a:t>Select Another Kernel</a:t>
            </a:r>
            <a:r>
              <a:rPr lang="en-US" sz="2000"/>
              <a:t>’</a:t>
            </a:r>
            <a:endParaRPr lang="en-US" sz="1600">
              <a:latin typeface="Cascadia Mono Light" panose="020B0609020000020004" charset="0"/>
              <a:cs typeface="Cascadia Mono Light" panose="020B0609020000020004" charset="0"/>
            </a:endParaRPr>
          </a:p>
        </p:txBody>
      </p:sp>
      <p:sp>
        <p:nvSpPr>
          <p:cNvPr id="12" name="Text Box 11"/>
          <p:cNvSpPr txBox="1"/>
          <p:nvPr>
            <p:custDataLst>
              <p:tags r:id="rId9"/>
            </p:custDataLst>
          </p:nvPr>
        </p:nvSpPr>
        <p:spPr>
          <a:xfrm>
            <a:off x="260350" y="3599180"/>
            <a:ext cx="1192085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/>
              <a:t>Pilih </a:t>
            </a:r>
            <a:r>
              <a:rPr lang="en-US" sz="2000">
                <a:solidFill>
                  <a:srgbClr val="C00000"/>
                </a:solidFill>
              </a:rPr>
              <a:t>Python Environment</a:t>
            </a:r>
            <a:endParaRPr lang="en-US" sz="2000">
              <a:solidFill>
                <a:srgbClr val="C00000"/>
              </a:solidFill>
              <a:latin typeface="Cascadia Mono Light" panose="020B0609020000020004" charset="0"/>
              <a:cs typeface="Cascadia Mono Light" panose="020B0609020000020004" charset="0"/>
            </a:endParaRPr>
          </a:p>
        </p:txBody>
      </p:sp>
      <p:sp>
        <p:nvSpPr>
          <p:cNvPr id="13" name="Text Box 12"/>
          <p:cNvSpPr txBox="1"/>
          <p:nvPr>
            <p:custDataLst>
              <p:tags r:id="rId10"/>
            </p:custDataLst>
          </p:nvPr>
        </p:nvSpPr>
        <p:spPr>
          <a:xfrm>
            <a:off x="262890" y="5002530"/>
            <a:ext cx="1192085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/>
              <a:t>Pilih ‘</a:t>
            </a:r>
            <a:r>
              <a:rPr lang="en-US" sz="2000">
                <a:solidFill>
                  <a:srgbClr val="C00000"/>
                </a:solidFill>
              </a:rPr>
              <a:t>BelajarOpenCV</a:t>
            </a:r>
            <a:r>
              <a:rPr lang="en-US" sz="2000"/>
              <a:t>’ Environment</a:t>
            </a:r>
            <a:endParaRPr lang="en-US" sz="1600">
              <a:latin typeface="Cascadia Mono Light" panose="020B0609020000020004" charset="0"/>
              <a:cs typeface="Cascadia Mono Light" panose="020B0609020000020004" charset="0"/>
            </a:endParaRPr>
          </a:p>
        </p:txBody>
      </p:sp>
      <p:sp>
        <p:nvSpPr>
          <p:cNvPr id="5" name="Rectangles 4"/>
          <p:cNvSpPr/>
          <p:nvPr/>
        </p:nvSpPr>
        <p:spPr>
          <a:xfrm>
            <a:off x="0" y="0"/>
            <a:ext cx="12207875" cy="975995"/>
          </a:xfrm>
          <a:prstGeom prst="rect">
            <a:avLst/>
          </a:prstGeom>
          <a:solidFill>
            <a:srgbClr val="E5E79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" name="Title 1"/>
          <p:cNvSpPr>
            <a:spLocks noGrp="1"/>
          </p:cNvSpPr>
          <p:nvPr/>
        </p:nvSpPr>
        <p:spPr>
          <a:xfrm>
            <a:off x="403860" y="0"/>
            <a:ext cx="11786870" cy="975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solidFill>
                  <a:srgbClr val="8B8D08"/>
                </a:solidFill>
                <a:sym typeface="+mn-ea"/>
              </a:rPr>
              <a:t>Menghubungkan Notebook Ke Conda Environment</a:t>
            </a:r>
            <a:endParaRPr lang="en-US" b="1">
              <a:solidFill>
                <a:srgbClr val="8B8D08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15" name="Rectangles 14"/>
          <p:cNvSpPr/>
          <p:nvPr/>
        </p:nvSpPr>
        <p:spPr>
          <a:xfrm>
            <a:off x="0" y="803910"/>
            <a:ext cx="12207240" cy="60540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270510" y="1215390"/>
            <a:ext cx="11920855" cy="50158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/>
              <a:t>Selanjutnya kita bisa lihat pada pojok kanan atas, file Notebook yang kita miliki sudah terhubung pada Environment </a:t>
            </a:r>
            <a:r>
              <a:rPr lang="en-US" sz="2000" b="1"/>
              <a:t>BelajarOpenCV </a:t>
            </a:r>
            <a:endParaRPr lang="en-US" sz="2000" b="1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/>
              <a:t>Artinya kita sekarang bisa mengakses Python  dan Library yang sebelumnya kita install via Anaconda Prompt dari VS Code Jupyter Notebook. </a:t>
            </a:r>
            <a:endParaRPr lang="en-US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/>
              <a:t>Pada training kedepannya, kita akan langsung menggunakan file notebook yang sudah disediakan, jadi tidak perlu membuat baru dari file kosong. </a:t>
            </a:r>
            <a:endParaRPr lang="en-US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/>
              <a:t>Yang harus selalu kita ingat adalah menghubungkan file Notebook yang kita buka di VS Code ke Conda Environment </a:t>
            </a:r>
            <a:r>
              <a:rPr lang="en-US" sz="2000" b="1"/>
              <a:t>BelajarOpenCV</a:t>
            </a:r>
            <a:endParaRPr lang="en-US" sz="2000" b="1">
              <a:latin typeface="Cascadia Mono Light" panose="020B0609020000020004" charset="0"/>
              <a:cs typeface="Cascadia Mono Light" panose="020B0609020000020004" charset="0"/>
            </a:endParaRPr>
          </a:p>
        </p:txBody>
      </p:sp>
      <p:pic>
        <p:nvPicPr>
          <p:cNvPr id="16" name="Content Placeholder 1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71830" y="1922145"/>
            <a:ext cx="9115425" cy="2162175"/>
          </a:xfrm>
          <a:prstGeom prst="rect">
            <a:avLst/>
          </a:prstGeom>
        </p:spPr>
      </p:pic>
      <p:sp>
        <p:nvSpPr>
          <p:cNvPr id="5" name="Rectangles 4"/>
          <p:cNvSpPr/>
          <p:nvPr/>
        </p:nvSpPr>
        <p:spPr>
          <a:xfrm>
            <a:off x="0" y="0"/>
            <a:ext cx="12207875" cy="975995"/>
          </a:xfrm>
          <a:prstGeom prst="rect">
            <a:avLst/>
          </a:prstGeom>
          <a:solidFill>
            <a:srgbClr val="E5E79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" name="Title 1"/>
          <p:cNvSpPr>
            <a:spLocks noGrp="1"/>
          </p:cNvSpPr>
          <p:nvPr/>
        </p:nvSpPr>
        <p:spPr>
          <a:xfrm>
            <a:off x="403860" y="0"/>
            <a:ext cx="11786870" cy="975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solidFill>
                  <a:srgbClr val="8B8D08"/>
                </a:solidFill>
                <a:sym typeface="+mn-ea"/>
              </a:rPr>
              <a:t>Menghubungkan Notebook Ke Conda Environment</a:t>
            </a:r>
            <a:endParaRPr lang="en-US" b="1">
              <a:solidFill>
                <a:srgbClr val="8B8D08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3" name="Rectangles 2"/>
          <p:cNvSpPr/>
          <p:nvPr/>
        </p:nvSpPr>
        <p:spPr>
          <a:xfrm>
            <a:off x="-635" y="0"/>
            <a:ext cx="12182475" cy="6876415"/>
          </a:xfrm>
          <a:prstGeom prst="rect">
            <a:avLst/>
          </a:prstGeom>
          <a:solidFill>
            <a:srgbClr val="E5E79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147060"/>
            <a:ext cx="10515600" cy="564515"/>
          </a:xfrm>
        </p:spPr>
        <p:txBody>
          <a:bodyPr>
            <a:noAutofit/>
          </a:bodyPr>
          <a:p>
            <a:pPr algn="ctr"/>
            <a:r>
              <a:rPr lang="en-US" sz="8000">
                <a:solidFill>
                  <a:srgbClr val="8B8D08"/>
                </a:solidFill>
                <a:sym typeface="+mn-ea"/>
              </a:rPr>
              <a:t>SEKIAN</a:t>
            </a:r>
            <a:endParaRPr lang="en-US" sz="8000">
              <a:solidFill>
                <a:srgbClr val="8B8D08"/>
              </a:solidFill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92.75,&quot;left&quot;:0,&quot;top&quot;:167.85,&quot;width&quot;:959.35}"/>
</p:tagLst>
</file>

<file path=ppt/tags/tag2.xml><?xml version="1.0" encoding="utf-8"?>
<p:tagLst xmlns:p="http://schemas.openxmlformats.org/presentationml/2006/main">
  <p:tag name="KSO_WM_DIAGRAM_VIRTUALLY_FRAME" val="{&quot;height&quot;:392.75,&quot;left&quot;:0,&quot;top&quot;:167.85,&quot;width&quot;:959.35}"/>
</p:tagLst>
</file>

<file path=ppt/tags/tag3.xml><?xml version="1.0" encoding="utf-8"?>
<p:tagLst xmlns:p="http://schemas.openxmlformats.org/presentationml/2006/main">
  <p:tag name="KSO_WM_DIAGRAM_VIRTUALLY_FRAME" val="{&quot;height&quot;:392.75,&quot;left&quot;:0,&quot;top&quot;:167.85,&quot;width&quot;:959.35}"/>
</p:tagLst>
</file>

<file path=ppt/tags/tag4.xml><?xml version="1.0" encoding="utf-8"?>
<p:tagLst xmlns:p="http://schemas.openxmlformats.org/presentationml/2006/main">
  <p:tag name="KSO_WM_DIAGRAM_VIRTUALLY_FRAME" val="{&quot;height&quot;:392.75,&quot;left&quot;:0,&quot;top&quot;:167.85,&quot;width&quot;:959.35}"/>
</p:tagLst>
</file>

<file path=ppt/tags/tag5.xml><?xml version="1.0" encoding="utf-8"?>
<p:tagLst xmlns:p="http://schemas.openxmlformats.org/presentationml/2006/main">
  <p:tag name="KSO_WM_DIAGRAM_VIRTUALLY_FRAME" val="{&quot;height&quot;:392.75,&quot;left&quot;:0,&quot;top&quot;:167.85,&quot;width&quot;:959.35}"/>
</p:tagLst>
</file>

<file path=ppt/tags/tag6.xml><?xml version="1.0" encoding="utf-8"?>
<p:tagLst xmlns:p="http://schemas.openxmlformats.org/presentationml/2006/main">
  <p:tag name="KSO_WM_DIAGRAM_VIRTUALLY_FRAME" val="{&quot;height&quot;:392.75,&quot;left&quot;:0,&quot;top&quot;:167.85,&quot;width&quot;:959.35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3686</Words>
  <Application>WPS Presentation</Application>
  <PresentationFormat>Widescreen</PresentationFormat>
  <Paragraphs>119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2" baseType="lpstr">
      <vt:lpstr>Arial</vt:lpstr>
      <vt:lpstr>SimSun</vt:lpstr>
      <vt:lpstr>Wingdings</vt:lpstr>
      <vt:lpstr>Cascadia Mono Light</vt:lpstr>
      <vt:lpstr>Calibri</vt:lpstr>
      <vt:lpstr>Microsoft YaHei</vt:lpstr>
      <vt:lpstr>Arial Unicode MS</vt:lpstr>
      <vt:lpstr>Calibri Light</vt:lpstr>
      <vt:lpstr>Office Theme</vt:lpstr>
      <vt:lpstr>PowerPoint 演示文稿</vt:lpstr>
      <vt:lpstr>Catatan</vt:lpstr>
      <vt:lpstr>Python Package Management Anaconda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Jupyter Notebook di VS Code</vt:lpstr>
      <vt:lpstr>PowerPoint 演示文稿</vt:lpstr>
      <vt:lpstr>PowerPoint 演示文稿</vt:lpstr>
      <vt:lpstr>PowerPoint 演示文稿</vt:lpstr>
      <vt:lpstr>SEKIAN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yunus</cp:lastModifiedBy>
  <cp:revision>46</cp:revision>
  <dcterms:created xsi:type="dcterms:W3CDTF">2020-09-14T11:27:00Z</dcterms:created>
  <dcterms:modified xsi:type="dcterms:W3CDTF">2025-12-13T03:39:52Z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1033-12.2.0.23155</vt:lpwstr>
  </property>
  <property fmtid="{D5CDD505-2E9C-101B-9397-08002B2CF9AE}" pid="3" name="ICV">
    <vt:lpwstr>8C8FD818FAB94D34930932168F125E96_12</vt:lpwstr>
  </property>
</Properties>
</file>